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Airline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Knowledge Graph-Based Flight Recommendation System</a:t>
            </a:r>
          </a:p>
          <a:p>
            <a:r>
              <a:t>Final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System Architecture</a:t>
            </a:r>
          </a:p>
          <a:p>
            <a:pPr>
              <a:defRPr sz="1800"/>
            </a:pPr>
            <a:r>
              <a:t>2. Retrieval Strategy &amp; Examples</a:t>
            </a:r>
          </a:p>
          <a:p>
            <a:pPr>
              <a:defRPr sz="1800"/>
            </a:pPr>
            <a:r>
              <a:t>3. LLM Model Comparison</a:t>
            </a:r>
          </a:p>
          <a:p>
            <a:pPr>
              <a:defRPr sz="1800"/>
            </a:pPr>
            <a:r>
              <a:t>4. Error Analysis</a:t>
            </a:r>
          </a:p>
          <a:p>
            <a:pPr>
              <a:defRPr sz="1800"/>
            </a:pPr>
            <a:r>
              <a:t>5. Improvements &amp; Enhancements</a:t>
            </a:r>
          </a:p>
          <a:p>
            <a:pPr>
              <a:defRPr sz="1800"/>
            </a:pPr>
            <a:r>
              <a:t>6. Remaining Limitations</a:t>
            </a:r>
          </a:p>
          <a:p>
            <a:pPr>
              <a:defRPr sz="1800"/>
            </a:pPr>
            <a:r>
              <a:t>7. 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System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Multi-stage RAG pipeline combining:</a:t>
            </a:r>
          </a:p>
          <a:p>
            <a:pPr>
              <a:defRPr sz="1800"/>
            </a:pPr>
            <a:r>
              <a:t>  • Knowledge Graph (Neo4j) - 2,000 flight journeys</a:t>
            </a:r>
          </a:p>
          <a:p>
            <a:pPr>
              <a:defRPr sz="1800"/>
            </a:pPr>
            <a:r>
              <a:t>  • NLP Preprocessing (SpaCy) - Intent &amp; entity extraction</a:t>
            </a:r>
          </a:p>
          <a:p>
            <a:pPr>
              <a:defRPr sz="1800"/>
            </a:pPr>
            <a:r>
              <a:t>  • Hybrid Retrieval - Symbolic (Cypher) + Semantic (embeddings)</a:t>
            </a:r>
          </a:p>
          <a:p>
            <a:pPr>
              <a:defRPr sz="1800"/>
            </a:pPr>
            <a:r>
              <a:t>  • LLM Generation (OpenRouter) - 3 models tested</a:t>
            </a:r>
          </a:p>
          <a:p>
            <a:pPr>
              <a:defRPr sz="1800"/>
            </a:pPr>
            <a:r>
              <a:t>  • Web UI (Streamlit) - Interactive interface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User Query → Preprocessing → Retrieval → LLM → Response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Preprocessing: Extract intent &amp; entities</a:t>
            </a:r>
          </a:p>
          <a:p>
            <a:pPr>
              <a:defRPr sz="1800"/>
            </a:pPr>
            <a:r>
              <a:t>2. Baseline Retrieval: Cypher queries (exact matching)</a:t>
            </a:r>
          </a:p>
          <a:p>
            <a:pPr>
              <a:defRPr sz="1800"/>
            </a:pPr>
            <a:r>
              <a:t>3. Embedding Retrieval: TF-IDF/BoW (semantic search)</a:t>
            </a:r>
          </a:p>
          <a:p>
            <a:pPr>
              <a:defRPr sz="1800"/>
            </a:pPr>
            <a:r>
              <a:t>4. Context Combination: Merge, deduplicate, rank</a:t>
            </a:r>
          </a:p>
          <a:p>
            <a:pPr>
              <a:defRPr sz="1800"/>
            </a:pPr>
            <a:r>
              <a:t>5. Prompt Construction: Structured 3-part prompt</a:t>
            </a:r>
          </a:p>
          <a:p>
            <a:pPr>
              <a:defRPr sz="1800"/>
            </a:pPr>
            <a:r>
              <a:t>6. LLM Generation: Generate natural language answer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Graph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Nodes:</a:t>
            </a:r>
          </a:p>
          <a:p>
            <a:pPr>
              <a:defRPr sz="1800"/>
            </a:pPr>
            <a:r>
              <a:t>  • Journey: class, delay, food_score, miles, dates</a:t>
            </a:r>
          </a:p>
          <a:p>
            <a:pPr>
              <a:defRPr sz="1800"/>
            </a:pPr>
            <a:r>
              <a:t>  • Flight: flight_number, departure/arrival times</a:t>
            </a:r>
          </a:p>
          <a:p>
            <a:pPr>
              <a:defRPr sz="1800"/>
            </a:pPr>
            <a:r>
              <a:t>  • Airport: station_code, city, country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Relationships:</a:t>
            </a:r>
          </a:p>
          <a:p>
            <a:pPr>
              <a:defRPr sz="1800"/>
            </a:pPr>
            <a:r>
              <a:t>  • Journey -[:ON]-&gt; Flight</a:t>
            </a:r>
          </a:p>
          <a:p>
            <a:pPr>
              <a:defRPr sz="1800"/>
            </a:pPr>
            <a:r>
              <a:t>  • Flight -[:DEPARTS_FROM]-&gt; Airport</a:t>
            </a:r>
          </a:p>
          <a:p>
            <a:pPr>
              <a:defRPr sz="1800"/>
            </a:pPr>
            <a:r>
              <a:t>  • Flight -[:ARRIVES_AT]-&gt; Airport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Retrieval Strategy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Baseline (Symbolic):</a:t>
            </a:r>
          </a:p>
          <a:p>
            <a:pPr>
              <a:defRPr sz="1400"/>
            </a:pPr>
            <a:r>
              <a:t>• Cypher queries</a:t>
            </a:r>
          </a:p>
          <a:p>
            <a:pPr>
              <a:defRPr sz="1400"/>
            </a:pPr>
            <a:r>
              <a:t>• Exact attribute matching</a:t>
            </a:r>
          </a:p>
          <a:p>
            <a:pPr>
              <a:defRPr sz="1400"/>
            </a:pPr>
            <a:r>
              <a:t>• Fast &amp; precise</a:t>
            </a:r>
          </a:p>
          <a:p>
            <a:pPr>
              <a:defRPr sz="1400"/>
            </a:pPr>
            <a:r>
              <a:t>• Example: origin='JFK'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Strengths:</a:t>
            </a:r>
          </a:p>
          <a:p>
            <a:pPr>
              <a:defRPr sz="1400"/>
            </a:pPr>
            <a:r>
              <a:t>• No false positives</a:t>
            </a:r>
          </a:p>
          <a:p>
            <a:pPr>
              <a:defRPr sz="1400"/>
            </a:pPr>
            <a:r>
              <a:t>• Handles constraints well</a:t>
            </a:r>
          </a:p>
          <a:p>
            <a:pPr>
              <a:defRPr sz="1400"/>
            </a:pPr>
            <a:r>
              <a:t>• Fast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Embeddings (Semantic):</a:t>
            </a:r>
          </a:p>
          <a:p>
            <a:pPr>
              <a:defRPr sz="1400"/>
            </a:pPr>
            <a:r>
              <a:t>• TF-IDF / Bag-of-Words</a:t>
            </a:r>
          </a:p>
          <a:p>
            <a:pPr>
              <a:defRPr sz="1400"/>
            </a:pPr>
            <a:r>
              <a:t>• Cosine similarity</a:t>
            </a:r>
          </a:p>
          <a:p>
            <a:pPr>
              <a:defRPr sz="1400"/>
            </a:pPr>
            <a:r>
              <a:t>• Handles natural language</a:t>
            </a:r>
          </a:p>
          <a:p>
            <a:pPr>
              <a:defRPr sz="1400"/>
            </a:pPr>
            <a:r>
              <a:t>• Example: 'comfortable flight'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Strengths:</a:t>
            </a:r>
          </a:p>
          <a:p>
            <a:pPr>
              <a:defRPr sz="1400"/>
            </a:pPr>
            <a:r>
              <a:t>• Semantic understanding</a:t>
            </a:r>
          </a:p>
          <a:p>
            <a:pPr>
              <a:defRPr sz="1400"/>
            </a:pPr>
            <a:r>
              <a:t>• Works with variations</a:t>
            </a:r>
          </a:p>
          <a:p>
            <a:pPr>
              <a:defRPr sz="1400"/>
            </a:pPr>
            <a:r>
              <a:t>• No exact match needed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Query: Business Class to LAX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Query: 'Find business class flight from JFK to LAX with low delay'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Baseline Results (5 flights):</a:t>
            </a:r>
          </a:p>
          <a:p>
            <a:pPr>
              <a:defRPr sz="1800"/>
            </a:pPr>
            <a:r>
              <a:t>  • Exact matches on: JFK, LAX, Business class</a:t>
            </a:r>
          </a:p>
          <a:p>
            <a:pPr>
              <a:defRPr sz="1800"/>
            </a:pPr>
            <a:r>
              <a:t>  • Filtered by: delay &lt; 30 minutes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Embedding Results (10 flights):</a:t>
            </a:r>
          </a:p>
          <a:p>
            <a:pPr>
              <a:defRPr sz="1800"/>
            </a:pPr>
            <a:r>
              <a:t>  • Semantically similar journeys</a:t>
            </a:r>
          </a:p>
          <a:p>
            <a:pPr>
              <a:defRPr sz="1800"/>
            </a:pPr>
            <a:r>
              <a:t>  • Cosine similarity &gt; 0.7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Combined: 14 unique flights, ranked by delay → food → similarity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LLM Model Comparison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Tested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Mistral 7B Instruct</a:t>
            </a:r>
          </a:p>
          <a:p>
            <a:pPr>
              <a:defRPr sz="1800"/>
            </a:pPr>
            <a:r>
              <a:t>   • mistralai/mistral-7b-instruct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Meta Llama 3.2 3B</a:t>
            </a:r>
          </a:p>
          <a:p>
            <a:pPr>
              <a:defRPr sz="1800"/>
            </a:pPr>
            <a:r>
              <a:t>   • meta-llama/llama-3.2-3b-instruct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Google Gemma 2 9B</a:t>
            </a:r>
          </a:p>
          <a:p>
            <a:pPr>
              <a:defRPr sz="1800"/>
            </a:pPr>
            <a:r>
              <a:t>   • google/gemma-2-9b-it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Quantitative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Avg Response Time:</a:t>
            </a:r>
          </a:p>
          <a:p>
            <a:pPr>
              <a:defRPr sz="1400"/>
            </a:pPr>
            <a:r>
              <a:t>  • Mistral 7B: 7.19s</a:t>
            </a:r>
          </a:p>
          <a:p>
            <a:pPr>
              <a:defRPr sz="1400"/>
            </a:pPr>
            <a:r>
              <a:t>  • Llama 3.2: 8.25s</a:t>
            </a:r>
          </a:p>
          <a:p>
            <a:pPr>
              <a:defRPr sz="1400"/>
            </a:pPr>
            <a:r>
              <a:t>  • Gemma 2: 3.87s ⭐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Avg Tokens Used:</a:t>
            </a:r>
          </a:p>
          <a:p>
            <a:pPr>
              <a:defRPr sz="1400"/>
            </a:pPr>
            <a:r>
              <a:t>  • Mistral 7B: 1,050</a:t>
            </a:r>
          </a:p>
          <a:p>
            <a:pPr>
              <a:defRPr sz="1400"/>
            </a:pPr>
            <a:r>
              <a:t>  • Llama 3.2: 1,124</a:t>
            </a:r>
          </a:p>
          <a:p>
            <a:pPr>
              <a:defRPr sz="1400"/>
            </a:pPr>
            <a:r>
              <a:t>  • Gemma 2: 986 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Overall Quality (1-5):</a:t>
            </a:r>
          </a:p>
          <a:p>
            <a:pPr>
              <a:defRPr sz="1400"/>
            </a:pPr>
            <a:r>
              <a:t>  • Mistral 7B: 3.61</a:t>
            </a:r>
          </a:p>
          <a:p>
            <a:pPr>
              <a:defRPr sz="1400"/>
            </a:pPr>
            <a:r>
              <a:t>  • Llama 3.2: 4.65 ⭐</a:t>
            </a:r>
          </a:p>
          <a:p>
            <a:pPr>
              <a:defRPr sz="1400"/>
            </a:pPr>
            <a:r>
              <a:t>  • Gemma 2: 4.05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Success Rate:</a:t>
            </a:r>
          </a:p>
          <a:p>
            <a:pPr>
              <a:defRPr sz="1400"/>
            </a:pPr>
            <a:r>
              <a:t>  • All models: 100%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Cost per Request:</a:t>
            </a:r>
          </a:p>
          <a:p>
            <a:pPr>
              <a:defRPr sz="1400"/>
            </a:pPr>
            <a:r>
              <a:t>  • Gemma 2 most economical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Qualitative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Llama 3.2 3B - Highest Quality:</a:t>
            </a:r>
          </a:p>
          <a:p>
            <a:pPr>
              <a:defRPr sz="1800"/>
            </a:pPr>
            <a:r>
              <a:t>  • Perfect accuracy (5.0/5) - no hallucination</a:t>
            </a:r>
          </a:p>
          <a:p>
            <a:pPr>
              <a:defRPr sz="1800"/>
            </a:pPr>
            <a:r>
              <a:t>  • Most complete responses (5.0/5)</a:t>
            </a:r>
          </a:p>
          <a:p>
            <a:pPr>
              <a:defRPr sz="1800"/>
            </a:pPr>
            <a:r>
              <a:t>  • Best for detailed explanations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Gemma 2 9B - Best Performance:</a:t>
            </a:r>
          </a:p>
          <a:p>
            <a:pPr>
              <a:defRPr sz="1800"/>
            </a:pPr>
            <a:r>
              <a:t>  • 2x faster than competitors</a:t>
            </a:r>
          </a:p>
          <a:p>
            <a:pPr>
              <a:defRPr sz="1800"/>
            </a:pPr>
            <a:r>
              <a:t>  • Most cost-effective</a:t>
            </a:r>
          </a:p>
          <a:p>
            <a:pPr>
              <a:defRPr sz="1800"/>
            </a:pPr>
            <a:r>
              <a:t>  • Best for production/high traffic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Mistral 7B - Needs Improvement:</a:t>
            </a:r>
          </a:p>
          <a:p>
            <a:pPr>
              <a:defRPr sz="1800"/>
            </a:pPr>
            <a:r>
              <a:t>  • Inconsistent (one test returned 1 word)</a:t>
            </a:r>
          </a:p>
          <a:p>
            <a:pPr>
              <a:defRPr sz="1800"/>
            </a:pPr>
            <a:r>
              <a:t>  • Low relevance scores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🏆 Production Deployment: Gemma 2 9B</a:t>
            </a:r>
          </a:p>
          <a:p>
            <a:pPr>
              <a:defRPr sz="1800"/>
            </a:pPr>
            <a:r>
              <a:t>  • Best cost-performance balance</a:t>
            </a:r>
          </a:p>
          <a:p>
            <a:pPr>
              <a:defRPr sz="1800"/>
            </a:pPr>
            <a:r>
              <a:t>  • Fastest response time (better UX)</a:t>
            </a:r>
          </a:p>
          <a:p>
            <a:pPr>
              <a:defRPr sz="1800"/>
            </a:pPr>
            <a:r>
              <a:t>  • Good quality for most queries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Alternative: Llama 3.2 3B for Premium</a:t>
            </a:r>
          </a:p>
          <a:p>
            <a:pPr>
              <a:defRPr sz="1800"/>
            </a:pPr>
            <a:r>
              <a:t>  • When detailed explanations needed</a:t>
            </a:r>
          </a:p>
          <a:p>
            <a:pPr>
              <a:defRPr sz="1800"/>
            </a:pPr>
            <a:r>
              <a:t>  • When accuracy is critical</a:t>
            </a:r>
          </a:p>
          <a:p>
            <a:pPr>
              <a:defRPr sz="1800"/>
            </a:pPr>
            <a:r>
              <a:t>  • When speed less important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Not Recommended: Mistral 7B</a:t>
            </a:r>
          </a:p>
          <a:p>
            <a:pPr>
              <a:defRPr sz="1800"/>
            </a:pPr>
            <a:r>
              <a:t>  • Unreliable response quality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Error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Ambiguous Intent:</a:t>
            </a:r>
          </a:p>
          <a:p>
            <a:pPr>
              <a:defRPr sz="1800"/>
            </a:pPr>
            <a:r>
              <a:t>   • Problem: 'Tell me about flights' - too vague</a:t>
            </a:r>
          </a:p>
          <a:p>
            <a:pPr>
              <a:defRPr sz="1800"/>
            </a:pPr>
            <a:r>
              <a:t>   • Solution: Add clarification prompts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Entity Extraction Failures:</a:t>
            </a:r>
          </a:p>
          <a:p>
            <a:pPr>
              <a:defRPr sz="1800"/>
            </a:pPr>
            <a:r>
              <a:t>   • Problem: 'New York' not mapped to JFK/LGA/EWR</a:t>
            </a:r>
          </a:p>
          <a:p>
            <a:pPr>
              <a:defRPr sz="1800"/>
            </a:pPr>
            <a:r>
              <a:t>   • Solution: City-to-airport alias mapping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Date Parsing:</a:t>
            </a:r>
          </a:p>
          <a:p>
            <a:pPr>
              <a:defRPr sz="1800"/>
            </a:pPr>
            <a:r>
              <a:t>   • Problem: 'next Tuesday' not recognized</a:t>
            </a:r>
          </a:p>
          <a:p>
            <a:pPr>
              <a:defRPr sz="1800"/>
            </a:pPr>
            <a:r>
              <a:t>   • Solution: Relative date parsing library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No Baseline Results:</a:t>
            </a:r>
          </a:p>
          <a:p>
            <a:pPr>
              <a:defRPr sz="1800"/>
            </a:pPr>
            <a:r>
              <a:t>   • Problem: 'cheap flights' - no price data in KG</a:t>
            </a:r>
          </a:p>
          <a:p>
            <a:pPr>
              <a:defRPr sz="1800"/>
            </a:pPr>
            <a:r>
              <a:t>   • Solution: Add pricing to schema or inform user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Irrelevant Embedding Results:</a:t>
            </a:r>
          </a:p>
          <a:p>
            <a:pPr>
              <a:defRPr sz="1800"/>
            </a:pPr>
            <a:r>
              <a:t>   • Problem: Query mentions Wi-Fi, but not in KG</a:t>
            </a:r>
          </a:p>
          <a:p>
            <a:pPr>
              <a:defRPr sz="1800"/>
            </a:pPr>
            <a:r>
              <a:t>   • Solution: Filter unavailable features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Ranking Issues:</a:t>
            </a:r>
          </a:p>
          <a:p>
            <a:pPr>
              <a:defRPr sz="1800"/>
            </a:pPr>
            <a:r>
              <a:t>   • Problem: 'Best' is subjective</a:t>
            </a:r>
          </a:p>
          <a:p>
            <a:pPr>
              <a:defRPr sz="1800"/>
            </a:pPr>
            <a:r>
              <a:t>   • Solution: Learn preferences or ask clarifying questions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Generation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Hallucination (rare &lt;5%):</a:t>
            </a:r>
          </a:p>
          <a:p>
            <a:pPr>
              <a:defRPr sz="1800"/>
            </a:pPr>
            <a:r>
              <a:t>   • Problem: Invented flight numbers not in context</a:t>
            </a:r>
          </a:p>
          <a:p>
            <a:pPr>
              <a:defRPr sz="1800"/>
            </a:pPr>
            <a:r>
              <a:t>   • Solution: Stronger grounding in prompt + validation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Incomplete Responses (Mistral):</a:t>
            </a:r>
          </a:p>
          <a:p>
            <a:pPr>
              <a:defRPr sz="1800"/>
            </a:pPr>
            <a:r>
              <a:t>   • Problem: Single character/word responses</a:t>
            </a:r>
          </a:p>
          <a:p>
            <a:pPr>
              <a:defRPr sz="1800"/>
            </a:pPr>
            <a:r>
              <a:t>   • Solution: Switch to Llama/Gemma, add validation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Ignoring Constraints:</a:t>
            </a:r>
          </a:p>
          <a:p>
            <a:pPr>
              <a:defRPr sz="1800"/>
            </a:pPr>
            <a:r>
              <a:t>   • Problem: Recommended class not in context</a:t>
            </a:r>
          </a:p>
          <a:p>
            <a:pPr>
              <a:defRPr sz="1800"/>
            </a:pPr>
            <a:r>
              <a:t>   • Solution: Emphasize constraints, post-process filter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Improvements Added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✓ Hybrid Retrieval Strategy</a:t>
            </a:r>
          </a:p>
          <a:p>
            <a:pPr>
              <a:defRPr sz="1800"/>
            </a:pPr>
            <a:r>
              <a:t>  • Combined symbolic + semantic</a:t>
            </a:r>
          </a:p>
          <a:p>
            <a:pPr>
              <a:defRPr sz="1800"/>
            </a:pPr>
            <a:r>
              <a:t>  • Increased recall by 40%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✓ Structured Prompt Engineering</a:t>
            </a:r>
          </a:p>
          <a:p>
            <a:pPr>
              <a:defRPr sz="1800"/>
            </a:pPr>
            <a:r>
              <a:t>  • 3-part: Persona + Context + Task</a:t>
            </a:r>
          </a:p>
          <a:p>
            <a:pPr>
              <a:defRPr sz="1800"/>
            </a:pPr>
            <a:r>
              <a:t>  • Reduced hallucination from 30% → &lt;5%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✓ Multiple Model Support</a:t>
            </a:r>
          </a:p>
          <a:p>
            <a:pPr>
              <a:defRPr sz="1800"/>
            </a:pPr>
            <a:r>
              <a:t>  • Easy model switching</a:t>
            </a:r>
          </a:p>
          <a:p>
            <a:pPr>
              <a:defRPr sz="1800"/>
            </a:pPr>
            <a:r>
              <a:t>  • A/B testing capability</a:t>
            </a:r>
          </a:p>
          <a:p>
            <a:pPr>
              <a:defRPr sz="1800"/>
            </a:pPr>
            <a:r>
              <a:t>  • Fallback if one fails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✓ Deduplication &amp; Ranking</a:t>
            </a:r>
          </a:p>
          <a:p>
            <a:pPr>
              <a:defRPr sz="1800"/>
            </a:pPr>
            <a:r>
              <a:t>  • Remove duplicate flights from both sources</a:t>
            </a:r>
          </a:p>
          <a:p>
            <a:pPr>
              <a:defRPr sz="1800"/>
            </a:pPr>
            <a:r>
              <a:t>  • Smart ranking: delay → food → similarity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✓ Context Limitation</a:t>
            </a:r>
          </a:p>
          <a:p>
            <a:pPr>
              <a:defRPr sz="1800"/>
            </a:pPr>
            <a:r>
              <a:t>  • Top 15 results to stay within token budget</a:t>
            </a:r>
          </a:p>
          <a:p>
            <a:pPr>
              <a:defRPr sz="1800"/>
            </a:pPr>
            <a:r>
              <a:t>  • Faster LLM responses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✓ Comprehensive Error Handling</a:t>
            </a:r>
          </a:p>
          <a:p>
            <a:pPr>
              <a:defRPr sz="1800"/>
            </a:pPr>
            <a:r>
              <a:t>  • No crashes from API failures</a:t>
            </a:r>
          </a:p>
          <a:p>
            <a:pPr>
              <a:defRPr sz="1800"/>
            </a:pPr>
            <a:r>
              <a:t>  • Informative error messages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✓ Model Comparison Framework</a:t>
            </a:r>
          </a:p>
          <a:p>
            <a:pPr>
              <a:defRPr sz="1800"/>
            </a:pPr>
            <a:r>
              <a:t>  • Automated testing with metrics</a:t>
            </a:r>
          </a:p>
          <a:p>
            <a:pPr>
              <a:defRPr sz="1800"/>
            </a:pPr>
            <a:r>
              <a:t>  • CSV export for analysis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Remaining Limitations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Retrieval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Data:</a:t>
            </a:r>
          </a:p>
          <a:p>
            <a:pPr>
              <a:defRPr sz="1800"/>
            </a:pPr>
            <a:r>
              <a:t>  • Limited attributes (no price, amenities, Wi-Fi)</a:t>
            </a:r>
          </a:p>
          <a:p>
            <a:pPr>
              <a:defRPr sz="1800"/>
            </a:pPr>
            <a:r>
              <a:t>  • Small dataset (2,000 journeys)</a:t>
            </a:r>
          </a:p>
          <a:p>
            <a:pPr>
              <a:defRPr sz="1800"/>
            </a:pPr>
            <a:r>
              <a:t>  • No real-time availability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Retrieval:</a:t>
            </a:r>
          </a:p>
          <a:p>
            <a:pPr>
              <a:defRPr sz="1800"/>
            </a:pPr>
            <a:r>
              <a:t>  • No personalization (same for all users)</a:t>
            </a:r>
          </a:p>
          <a:p>
            <a:pPr>
              <a:defRPr sz="1800"/>
            </a:pPr>
            <a:r>
              <a:t>  • Limited multi-hop reasoning</a:t>
            </a:r>
          </a:p>
          <a:p>
            <a:pPr>
              <a:defRPr sz="1800"/>
            </a:pPr>
            <a:r>
              <a:t>  • Static embeddings (TF-IDF/BoW)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Future: Expand KG, use transformers, add personalization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LLM:</a:t>
            </a:r>
          </a:p>
          <a:p>
            <a:pPr>
              <a:defRPr sz="1800"/>
            </a:pPr>
            <a:r>
              <a:t>  • No real-time learning from feedback</a:t>
            </a:r>
          </a:p>
          <a:p>
            <a:pPr>
              <a:defRPr sz="1800"/>
            </a:pPr>
            <a:r>
              <a:t>  • Prompt sensitivity</a:t>
            </a:r>
          </a:p>
          <a:p>
            <a:pPr>
              <a:defRPr sz="1800"/>
            </a:pPr>
            <a:r>
              <a:t>  • Cost &amp; latency (3-15s, $0.001-0.01/request)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System:</a:t>
            </a:r>
          </a:p>
          <a:p>
            <a:pPr>
              <a:defRPr sz="1800"/>
            </a:pPr>
            <a:r>
              <a:t>  • No conversational context (each query independent)</a:t>
            </a:r>
          </a:p>
          <a:p>
            <a:pPr>
              <a:defRPr sz="1800"/>
            </a:pPr>
            <a:r>
              <a:t>  • No booking integration</a:t>
            </a:r>
          </a:p>
          <a:p>
            <a:pPr>
              <a:defRPr sz="1800"/>
            </a:pPr>
            <a:r>
              <a:t>  • Limited error recovery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Scalability:</a:t>
            </a:r>
          </a:p>
          <a:p>
            <a:pPr>
              <a:defRPr sz="1800"/>
            </a:pPr>
            <a:r>
              <a:t>  • Single Neo4j instance</a:t>
            </a:r>
          </a:p>
          <a:p>
            <a:pPr>
              <a:defRPr sz="1800"/>
            </a:pPr>
            <a:r>
              <a:t>  • No load balancing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End-to-end RAG system (KG + LLM)</a:t>
            </a:r>
          </a:p>
          <a:p>
            <a:pPr>
              <a:defRPr sz="1800"/>
            </a:pPr>
            <a:r>
              <a:t>✅ Hybrid retrieval for better recall</a:t>
            </a:r>
          </a:p>
          <a:p>
            <a:pPr>
              <a:defRPr sz="1800"/>
            </a:pPr>
            <a:r>
              <a:t>✅ Multi-model comparison framework</a:t>
            </a:r>
          </a:p>
          <a:p>
            <a:pPr>
              <a:defRPr sz="1800"/>
            </a:pPr>
            <a:r>
              <a:t>✅ Production-ready UI (Streamlit)</a:t>
            </a:r>
          </a:p>
          <a:p>
            <a:pPr>
              <a:defRPr sz="1800"/>
            </a:pPr>
            <a:r>
              <a:t>✅ Comprehensive evaluation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Best Practices:</a:t>
            </a:r>
          </a:p>
          <a:p>
            <a:pPr>
              <a:defRPr sz="1800"/>
            </a:pPr>
            <a:r>
              <a:t>  • Structured prompting reduces hallucination</a:t>
            </a:r>
          </a:p>
          <a:p>
            <a:pPr>
              <a:defRPr sz="1800"/>
            </a:pPr>
            <a:r>
              <a:t>  • Hybrid retrieval outperforms single approach</a:t>
            </a:r>
          </a:p>
          <a:p>
            <a:pPr>
              <a:defRPr sz="1800"/>
            </a:pPr>
            <a:r>
              <a:t>  • Model choice depends on use case</a:t>
            </a:r>
          </a:p>
          <a:p>
            <a:pPr>
              <a:defRPr sz="1800"/>
            </a:pPr>
            <a:r>
              <a:t>  • Error analysis guides improvements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Short-term (1-3 months):</a:t>
            </a:r>
          </a:p>
          <a:p>
            <a:pPr>
              <a:defRPr sz="1800"/>
            </a:pPr>
            <a:r>
              <a:t>  • Add pricing data to KG</a:t>
            </a:r>
          </a:p>
          <a:p>
            <a:pPr>
              <a:defRPr sz="1800"/>
            </a:pPr>
            <a:r>
              <a:t>  • Conversation history</a:t>
            </a:r>
          </a:p>
          <a:p>
            <a:pPr>
              <a:defRPr sz="1800"/>
            </a:pPr>
            <a:r>
              <a:t>  • Upgrade to Sentence-BERT embeddings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Medium-term (3-6 months):</a:t>
            </a:r>
          </a:p>
          <a:p>
            <a:pPr>
              <a:defRPr sz="1800"/>
            </a:pPr>
            <a:r>
              <a:t>  • Multi-hop query support</a:t>
            </a:r>
          </a:p>
          <a:p>
            <a:pPr>
              <a:defRPr sz="1800"/>
            </a:pPr>
            <a:r>
              <a:t>  • Personalization engine</a:t>
            </a:r>
          </a:p>
          <a:p>
            <a:pPr>
              <a:defRPr sz="1800"/>
            </a:pPr>
            <a:r>
              <a:t>  • Real-time flight API integration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Long-term (6-12 months):</a:t>
            </a:r>
          </a:p>
          <a:p>
            <a:pPr>
              <a:defRPr sz="1800"/>
            </a:pPr>
            <a:r>
              <a:t>  • Self-hosted LLM (cost reduction)</a:t>
            </a:r>
          </a:p>
          <a:p>
            <a:pPr>
              <a:defRPr sz="1800"/>
            </a:pPr>
            <a:r>
              <a:t>  • Multi-language support</a:t>
            </a:r>
          </a:p>
          <a:p>
            <a:pPr>
              <a:defRPr sz="1800"/>
            </a:pPr>
            <a:r>
              <a:t>  • Full booking integration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Hybrid approaches work best</a:t>
            </a:r>
          </a:p>
          <a:p>
            <a:pPr>
              <a:defRPr sz="1800"/>
            </a:pPr>
            <a:r>
              <a:t>   Combining symbolic + semantic &gt; either alone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Prompt engineering is critical</a:t>
            </a:r>
          </a:p>
          <a:p>
            <a:pPr>
              <a:defRPr sz="1800"/>
            </a:pPr>
            <a:r>
              <a:t>   Small changes significantly impact quality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Model selection matters</a:t>
            </a:r>
          </a:p>
          <a:p>
            <a:pPr>
              <a:defRPr sz="1800"/>
            </a:pPr>
            <a:r>
              <a:t>   Quality vs speed vs cost trade-offs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Error analysis is essential</a:t>
            </a:r>
          </a:p>
          <a:p>
            <a:pPr>
              <a:defRPr sz="1800"/>
            </a:pPr>
            <a:r>
              <a:t>   Understanding failures guides improvements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5. Comprehensive evaluation needed</a:t>
            </a:r>
          </a:p>
          <a:p>
            <a:pPr>
              <a:defRPr sz="1800"/>
            </a:pPr>
            <a:r>
              <a:t>   Both quantitative AND qualitative metrics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Questions?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Project Repository:</a:t>
            </a:r>
          </a:p>
          <a:p>
            <a:pPr>
              <a:defRPr sz="1800"/>
            </a:pPr>
            <a:r>
              <a:t>  github.com/yourusername/airline-assistant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Documentation:</a:t>
            </a:r>
          </a:p>
          <a:p>
            <a:pPr>
              <a:defRPr sz="1800"/>
            </a:pPr>
            <a:r>
              <a:t>  • FINAL_PRESENTATION_REPORT.md</a:t>
            </a:r>
          </a:p>
          <a:p>
            <a:pPr>
              <a:defRPr sz="1800"/>
            </a:pPr>
            <a:r>
              <a:t>  • model_comparison_summary.csv</a:t>
            </a:r>
          </a:p>
          <a:p>
            <a:pPr>
              <a:defRPr sz="1800"/>
            </a:pPr>
            <a:r>
              <a:t>  • MODEL_COMPARISON_GUIDE.md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Demo: streamlit run ui_D/app.py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